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notesMasterIdLst>
    <p:notesMasterId r:id="rId15"/>
  </p:notesMasterIdLst>
  <p:handoutMasterIdLst>
    <p:handoutMasterId r:id="rId16"/>
  </p:handoutMasterIdLst>
  <p:sldIdLst>
    <p:sldId id="258" r:id="rId3"/>
    <p:sldId id="377" r:id="rId4"/>
    <p:sldId id="391" r:id="rId5"/>
    <p:sldId id="392" r:id="rId6"/>
    <p:sldId id="393" r:id="rId7"/>
    <p:sldId id="394" r:id="rId8"/>
    <p:sldId id="395" r:id="rId9"/>
    <p:sldId id="396" r:id="rId10"/>
    <p:sldId id="398" r:id="rId11"/>
    <p:sldId id="397" r:id="rId12"/>
    <p:sldId id="374" r:id="rId13"/>
    <p:sldId id="332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479D78E-41F3-A1F4-EC04-02F424684A7A}" name="usha rani" initials="ur" userId="ac3da7c9ac03e58b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18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4066899-C096-4686-B300-E1D6AA42CDE9}" v="18" dt="2026-07-02T16:12:21.471"/>
    <p1510:client id="{E9B0078F-71CD-40F1-B7A0-85484F5377DB}" v="8" dt="2026-07-03T06:55:41.51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370" autoAdjust="0"/>
    <p:restoredTop sz="95033" autoAdjust="0"/>
  </p:normalViewPr>
  <p:slideViewPr>
    <p:cSldViewPr snapToGrid="0" snapToObjects="1">
      <p:cViewPr varScale="1">
        <p:scale>
          <a:sx n="69" d="100"/>
          <a:sy n="69" d="100"/>
        </p:scale>
        <p:origin x="52" y="10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1009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2" d="100"/>
          <a:sy n="62" d="100"/>
        </p:scale>
        <p:origin x="3226" y="7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viewProps" Target="viewProps.xml"/><Relationship Id="rId3" Type="http://schemas.openxmlformats.org/officeDocument/2006/relationships/slide" Target="slides/slide1.xml"/><Relationship Id="rId21" Type="http://schemas.microsoft.com/office/2015/10/relationships/revisionInfo" Target="revisionInfo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EFD0E32-84B7-61F7-BC6E-7F3D3E58F4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28D96D9-5F98-A44D-2018-D6A2A308A4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9F6064-4237-BA4C-A655-B64A9E0DF723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A93AFF6-B32C-BF80-479E-15EDD755C5E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1E1A79-2016-95C1-5829-B295A2C9857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FBAABA-A336-9B4F-BB34-8D7F4005576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12229D-753E-D112-EA38-F8EB6301E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116374" cy="4587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058581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A854B6-73EE-3647-B9F0-9FDDAF047BDA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329816-4D5E-3B44-810B-F5C416F14AE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1552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822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871033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89486-861A-2ECA-4D40-39E5F67E8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C5A513-C79F-B540-0019-433BDBACF3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0A3D1-26CD-4F17-E4CA-311B4310EE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467B8-2D06-EBB4-C77E-EA980BEAC2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947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84FB51-0CCD-7E30-006C-24572EE0CB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5B3405-B72E-77E8-AC88-39C8BF27F8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247CED-38BD-61BC-C289-9935025A3D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3F3921-5CCB-99B2-BEAE-679945FC1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306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31CFD8-ECD5-0783-2AB0-ACFC3273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C7F17B-D2F6-662D-52FF-83B2BA2D25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5DD85-E53A-AA51-8A24-6FD75FA0A7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BC8F9F-8E69-312B-01C2-05B902ACFE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27787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A3961-5DE8-686E-3894-1EC4CE3589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96716B-DE78-BE6A-065C-700B8CB017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D0C432-4A58-F09A-00A6-554859B76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64D428-282E-3F76-CEAD-7497380C20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54594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577CB-4429-8372-ECF7-B3B85B0AA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5E879B-CAC4-B338-544C-CF4E8482F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C0575-544B-58B3-87C9-8D914A1D0D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215F5-CFE1-7F26-9CD8-10AC466630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944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44B66-EC91-2BD6-7D3F-FB9E75F43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10EFCE-537F-8314-27E9-BA17DC4235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A71D28A-95EE-C579-9938-AA57244874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DA88E0-9C15-85FD-D2EF-741091DD3E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40678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92C9F-32E2-1DF3-D933-ED26BBAABE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CBD77D-896E-36B8-476D-3DB9858E94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481400-FC6F-EC9E-B10C-065E4BC062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4178FD-5294-B25F-1455-AC41BC9942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33250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A88E8-8740-3949-BE64-BB62EA08D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22BF00-6CFB-1C09-C3B7-8F0F835403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9D5D7B-5FA1-6B53-71F8-A93818030C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443D1A-5BCA-DD1F-4EB8-C6373CACAA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329816-4D5E-3B44-810B-F5C416F14A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928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227E06-5BF0-54B9-FB5D-CFB52D43BF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6EA4E6-D507-DC8D-31AA-A4CB32D7CE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C99788-2E86-FADA-072C-884B026156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DA504A-D052-4F2D-906E-4CCCD67E5352}" type="datetime1">
              <a:rPr lang="en-IN" smtClean="0"/>
              <a:t>03-10-2026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4D1ADA-8991-D408-DA0A-FE3B043FE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7DF78D-056F-7C9E-8F10-6820946248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2911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DA370-C77E-4354-33A4-1D2D9DDD6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3FE7F8-1A57-17F5-243A-454005CCDF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AE72D-6D76-FAB8-D597-99BF2087A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447009-55DF-4EA5-900B-29AFB7C8438A}" type="datetime1">
              <a:rPr lang="en-IN" smtClean="0"/>
              <a:t>03-10-2026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860C41-C703-1443-60E7-2BEF34D362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BB3600-770E-6D67-2A66-D2FECF5D3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76DCD-546C-A1AC-C961-3F3EEC504416}"/>
              </a:ext>
            </a:extLst>
          </p:cNvPr>
          <p:cNvSpPr/>
          <p:nvPr userDrawn="1"/>
        </p:nvSpPr>
        <p:spPr>
          <a:xfrm>
            <a:off x="87228" y="60325"/>
            <a:ext cx="1532022" cy="620712"/>
          </a:xfrm>
          <a:prstGeom prst="rect">
            <a:avLst/>
          </a:prstGeom>
          <a:blipFill dpi="0" rotWithShape="1">
            <a:blip r:embed="rId2">
              <a:alphaModFix amt="78101"/>
            </a:blip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6417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5DA9-698C-D133-BCF7-93A02E210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A85215-9C62-1486-DEC7-AF8E59725B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D292FD-C465-3FCB-1CEB-331C31A97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E8B550-430E-4E00-8584-398912EDCDA8}" type="datetime1">
              <a:rPr lang="en-IN" smtClean="0"/>
              <a:t>03-10-2026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196C18-4538-A1F2-0B35-7684E5B30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05BEFA-16A3-B084-9011-B7E85C9C92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370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E3A91F-6631-AA20-E58B-064235B6DD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029CD-C8C6-CEFE-D059-40BEA29975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5D9AB-9E5E-59E2-9DA3-6C54D45EAC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3C372B-55E2-4467-1C5C-88EAE7283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3515C1-FC0C-48DC-AA13-5A7440F04A46}" type="datetime1">
              <a:rPr lang="en-IN" smtClean="0"/>
              <a:t>03-10-2026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0897BD-CB93-AC5A-9B15-FD7F4D952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D5540F5-8BB9-4C4C-626E-5D45C97E3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8253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68A3B-B4EE-2816-3ADC-1938541424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1AF86E-35F8-453B-F58E-48D8C4903A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3D8923-FBC0-8866-8350-696FB3D22B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6545281-3CB5-361A-7D56-C6E37E290D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F62343-9DB8-07DC-AD19-22AE6A7E5D6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FEB0191-CD7B-6170-8655-A3CD1009BE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C4A9D0-F765-45B1-928F-556B91D2C522}" type="datetime1">
              <a:rPr lang="en-IN" smtClean="0"/>
              <a:t>03-10-2026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680C4C-B6E8-81B1-E2F5-D6264E3F6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0C8B11F-5860-03B4-E71F-3467444F9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80055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7A6C5-1A49-C01E-B839-45967150D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C47471-9D6F-27AE-9B05-71D6BF96E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20E6F3-7E24-4BDE-BB37-BD18A6966701}" type="datetime1">
              <a:rPr lang="en-IN" smtClean="0"/>
              <a:t>03-10-2026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5AFD67-19CE-C1CD-207C-EF612C5A6F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80D7506-CEE9-31E5-7D10-A0BD1B2B0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880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12BBBBF-B095-FC7E-61BE-572DFB7B1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113449-4DF0-4F1F-A3E4-097B1714C7C4}" type="datetime1">
              <a:rPr lang="en-IN" smtClean="0"/>
              <a:t>03-10-2026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7555D4-8ECB-AFFE-0E72-A206E4098E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E9EB7F-0F36-6AF2-5A6E-D350360EFF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3975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AF3453-54A8-457E-0F66-9BE958D915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E50AE-B8BE-E1FF-F3BA-8093082215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DA6038-C8B1-F7F2-5CA8-15CFE38CBD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97CAE-AF61-8AFD-5350-97D8044E12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F4166F-CD67-4CEB-8DD7-1E38016562AC}" type="datetime1">
              <a:rPr lang="en-IN" smtClean="0"/>
              <a:t>03-10-2026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9E989E-AF43-DFDB-D9DD-E85DED3C09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FBCAA9-93EB-8A4D-BB9C-2479D5935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4234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BCE57A-1FB8-E230-296B-702500A0D4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470CF4-1245-8E91-196B-2297C07C97E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C54EA7-CAD7-C04A-6487-F7D166033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F31731-B315-1CCB-7EEF-B7C7EC9254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78F83E-6F8A-4D66-8D97-D167DE305BE2}" type="datetime1">
              <a:rPr lang="en-IN" smtClean="0"/>
              <a:t>03-10-2026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4DE31E-F8C7-4C00-C40D-FE2821B706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7C9369-3918-E39E-9B60-A57179D04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04632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A9F7F1-0136-E40C-5B0F-C1D42F6EF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8B89F-EA4C-AA4F-0EB2-C715E5B0D67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C2AEC3-3D5C-B4D8-ADAC-C6249EB46A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FA3A21-9775-4B2C-9B39-32116406212C}" type="datetime1">
              <a:rPr lang="en-IN" smtClean="0"/>
              <a:t>03-10-2026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19FED2-229B-3728-C7BA-7E8D51577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8B8F22-95FA-4A5E-31CC-C3851B52E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26131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C6F1B25-2FA5-C4F6-09E8-D6F7A8DF83D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1113B0-02D5-BBE3-31A5-4739616298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9CAE10-6B7D-C48F-F3FF-419AD4413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3ABDC8-9AAF-4B62-9540-4EA826AA678B}" type="datetime1">
              <a:rPr lang="en-IN" smtClean="0"/>
              <a:t>03-10-2026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52D582-0634-2511-6F7E-7229EC0722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BAE7E1-0525-6C8B-2077-B55EFBEA6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2507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F2A4A3-2E21-E418-73DE-E22247EE41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C87DE1-CAF2-229C-5776-9562B7956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154DD8-14C4-ACB8-D444-27F005A4C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3821C3-0F1A-498D-9F2E-D10FACA35B86}" type="datetime1">
              <a:rPr lang="en-IN" smtClean="0"/>
              <a:t>03-10-2026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6BF891-4BCD-EC21-1259-8661D36C8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3951AF-D1A2-07A4-0B2A-7E9D6B416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8524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8CBFB9-B574-3DEB-F162-FE89B3802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4B0E9-24AC-9760-0CBD-E5D0888E3F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41205-CA2E-9649-1960-8F17E0E6D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19A7DA-FCDD-43FA-8A0C-6A5B2B391695}" type="datetime1">
              <a:rPr lang="en-IN" smtClean="0"/>
              <a:t>03-10-2026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702BAD-D0DE-F254-BBD1-2AFE276BD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87769-B833-24E6-E30B-DCE74558A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192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24CF5-AE66-5FEF-8EEC-A630C8B29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528CE2-68D8-267B-C297-6117F0736A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5FFB0-0F78-AEB8-5AFB-EC779B9614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38D4BE-274D-4073-90F9-6DE45B427D7A}" type="datetime1">
              <a:rPr lang="en-IN" smtClean="0"/>
              <a:t>03-10-2026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F3BE8E-E2EB-A8B6-21DD-9AB839A58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4BE51E-49C9-6B3A-1C46-49212B576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83761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3AF32-49A3-7BB1-C7E7-6C5D90D17A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C51BE1-060E-F420-83BA-C8AE9151CF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5265B4-44BE-C9BD-56AD-24359969A5F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262ECC-3BDB-BEA4-4B7F-1545B0DC3A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DD2526-BF89-47C7-96E6-5B804E43EF11}" type="datetime1">
              <a:rPr lang="en-IN" smtClean="0"/>
              <a:t>03-10-2026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899311-B569-3D99-B257-5CEB03A68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E828AD-34AD-9A23-4FFC-4C32387C9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4661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E56895-A3B7-F0FB-3CBE-59E564F229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29C285-ECC0-3375-66EF-B240D726BE8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DB153A-9265-EAEC-A55D-2519057330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4E62BD6-069B-567C-13A2-AD51A312FB5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60CFDC1-AF24-C301-0A26-DA099D8FF3D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2CB484-D858-5027-D2CF-125E103D2F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827929-B24E-4CA0-A508-395AF785C673}" type="datetime1">
              <a:rPr lang="en-IN" smtClean="0"/>
              <a:t>03-10-2026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8CD1DFD-AA21-1102-AD58-F0AB43617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0th REVIEW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058466D-C960-00E9-B91E-E20525158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1666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theme" Target="../theme/theme2.xml"/><Relationship Id="rId5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C5EEF4A-08C3-1725-4505-63B90332E4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0D38A5-B84E-8DCB-3CEA-900D45C858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6F078D-01B0-9071-5546-6BFF4A071C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A717A7-838C-4809-BC62-F129B310B950}" type="datetime1">
              <a:rPr lang="en-IN" smtClean="0"/>
              <a:t>03-10-2026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63510-A0D8-83AF-2345-E0A8B79D5D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B51A12-6174-66E3-0415-DA607E50CD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961B71F-4B40-8942-BB88-E0F5C0B46E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8278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B26EC2-0EF8-2F89-DF64-2685FD6393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E29FC3-B99D-0056-3798-159705D113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79F1E1-99D3-E959-A91B-BD6DF2599B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DB2A2-8993-4CD1-B936-8FCCA45C385B}" type="datetime1">
              <a:rPr lang="en-IN" smtClean="0"/>
              <a:t>03-10-2026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C7260-A9B7-9847-6D81-8C797C4D5A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0th REVIEW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27894-99B0-6303-77B2-C1C210EE2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96F81-1074-6B40-A92F-A06CCD3B41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84843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500A09-BF95-A121-71A4-33FFE91ACA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1417" y="300399"/>
            <a:ext cx="10392383" cy="776839"/>
          </a:xfrm>
        </p:spPr>
        <p:txBody>
          <a:bodyPr>
            <a:noAutofit/>
          </a:bodyPr>
          <a:lstStyle/>
          <a:p>
            <a:pPr algn="ctr">
              <a:lnSpc>
                <a:spcPct val="100000"/>
              </a:lnSpc>
            </a:pPr>
            <a:br>
              <a:rPr lang="en-US" sz="2400" b="1" dirty="0">
                <a:cs typeface="Arial" panose="020B0604020202020204" pitchFamily="34" charset="0"/>
              </a:rPr>
            </a:br>
            <a:r>
              <a:rPr lang="en-US" sz="2400" b="1" dirty="0">
                <a:cs typeface="Arial" panose="020B0604020202020204" pitchFamily="34" charset="0"/>
              </a:rPr>
              <a:t>1</a:t>
            </a:r>
            <a:r>
              <a:rPr lang="en-US" sz="2400" b="1" baseline="30000" dirty="0">
                <a:cs typeface="Arial" panose="020B0604020202020204" pitchFamily="34" charset="0"/>
              </a:rPr>
              <a:t>st</a:t>
            </a:r>
            <a:r>
              <a:rPr lang="en-US" sz="2400" b="1" dirty="0">
                <a:cs typeface="Arial" panose="020B0604020202020204" pitchFamily="34" charset="0"/>
              </a:rPr>
              <a:t>  REVIEW</a:t>
            </a:r>
            <a:br>
              <a:rPr lang="en-US" sz="2400" dirty="0">
                <a:latin typeface="+mn-lt"/>
                <a:cs typeface="Arial" panose="020B0604020202020204" pitchFamily="34" charset="0"/>
              </a:rPr>
            </a:br>
            <a:r>
              <a:rPr lang="en-IN" sz="2400" b="1" dirty="0"/>
              <a:t>CRM for Small Businesses</a:t>
            </a:r>
            <a:br>
              <a:rPr lang="en-US" sz="2400" b="1" dirty="0">
                <a:solidFill>
                  <a:srgbClr val="011893"/>
                </a:solidFill>
                <a:latin typeface="+mn-lt"/>
                <a:cs typeface="Arial" panose="020B0604020202020204" pitchFamily="34" charset="0"/>
              </a:rPr>
            </a:br>
            <a:endParaRPr lang="en-US" sz="2400" b="1" dirty="0">
              <a:solidFill>
                <a:srgbClr val="011893"/>
              </a:solidFill>
              <a:latin typeface="+mn-lt"/>
              <a:cs typeface="Arial" panose="020B0604020202020204" pitchFamily="34" charset="0"/>
            </a:endParaRP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24CF11E-4EBB-004C-8FD7-152B8D16D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24F28400-FDB5-158C-D317-153E1B1CD072}"/>
              </a:ext>
            </a:extLst>
          </p:cNvPr>
          <p:cNvSpPr txBox="1">
            <a:spLocks/>
          </p:cNvSpPr>
          <p:nvPr/>
        </p:nvSpPr>
        <p:spPr>
          <a:xfrm>
            <a:off x="961417" y="5032000"/>
            <a:ext cx="10506683" cy="138075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rgbClr val="C0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rgbClr val="C0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rgbClr val="C0000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800" b="1" dirty="0">
                <a:solidFill>
                  <a:srgbClr val="C00000"/>
                </a:solidFill>
              </a:rPr>
              <a:t>KONERU LAKSHMAIAH EDUCATION FOUNDATION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800" b="1" dirty="0">
              <a:solidFill>
                <a:srgbClr val="0070C0"/>
              </a:solidFill>
            </a:endParaRPr>
          </a:p>
        </p:txBody>
      </p:sp>
      <p:sp>
        <p:nvSpPr>
          <p:cNvPr id="10" name="Content Placeholder 3">
            <a:extLst>
              <a:ext uri="{FF2B5EF4-FFF2-40B4-BE49-F238E27FC236}">
                <a16:creationId xmlns:a16="http://schemas.microsoft.com/office/drawing/2014/main" id="{968465D1-CCC3-285A-3E29-8B23DC764FF6}"/>
              </a:ext>
            </a:extLst>
          </p:cNvPr>
          <p:cNvSpPr txBox="1">
            <a:spLocks/>
          </p:cNvSpPr>
          <p:nvPr/>
        </p:nvSpPr>
        <p:spPr>
          <a:xfrm>
            <a:off x="952500" y="3143780"/>
            <a:ext cx="10515600" cy="180629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US" sz="2400" dirty="0"/>
              <a:t>Under the Guidance </a:t>
            </a:r>
          </a:p>
          <a:p>
            <a:pPr marL="0" indent="0" algn="ctr">
              <a:buNone/>
            </a:pPr>
            <a:r>
              <a:rPr lang="en-US" sz="2400" dirty="0"/>
              <a:t>of </a:t>
            </a:r>
            <a:endParaRPr lang="en-US" sz="2400" dirty="0">
              <a:solidFill>
                <a:srgbClr val="00B05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solidFill>
                  <a:srgbClr val="00B050"/>
                </a:solidFill>
              </a:rPr>
              <a:t>Dr. </a:t>
            </a:r>
            <a:r>
              <a:rPr lang="en-US" sz="2400">
                <a:solidFill>
                  <a:srgbClr val="00B050"/>
                </a:solidFill>
              </a:rPr>
              <a:t>S. Spandana</a:t>
            </a:r>
            <a:endParaRPr lang="en-US" sz="2400" dirty="0">
              <a:solidFill>
                <a:srgbClr val="00B050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 err="1">
                <a:solidFill>
                  <a:srgbClr val="00B050"/>
                </a:solidFill>
              </a:rPr>
              <a:t>Assitant</a:t>
            </a:r>
            <a:r>
              <a:rPr lang="en-US" sz="2400" dirty="0">
                <a:solidFill>
                  <a:srgbClr val="00B050"/>
                </a:solidFill>
              </a:rPr>
              <a:t> Professor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400" dirty="0">
                <a:solidFill>
                  <a:srgbClr val="00B050"/>
                </a:solidFill>
              </a:rPr>
              <a:t>Department of Computer Science and Engineering 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400" dirty="0">
              <a:solidFill>
                <a:srgbClr val="00B050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9864F2-F4A5-DC53-C4B3-F9C0A49E4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0th REVIEW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13C41FE-7D1F-E7DF-F0EB-DE18D39555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6040" y="4860024"/>
            <a:ext cx="2618924" cy="1243012"/>
          </a:xfrm>
          <a:prstGeom prst="rect">
            <a:avLst/>
          </a:prstGeom>
        </p:spPr>
      </p:pic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F5C1A452-4633-BB68-A150-FAF552C36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8635047"/>
              </p:ext>
            </p:extLst>
          </p:nvPr>
        </p:nvGraphicFramePr>
        <p:xfrm>
          <a:off x="2032000" y="1680962"/>
          <a:ext cx="8128000" cy="11125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2649491121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4783695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B. Pemesh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Roll no: 2520030388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5181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K. Srihitha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Roll no: 2520030153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134380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CH. Srihitha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Roll no: 2520030400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4183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625541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0F0159-92E9-5749-2215-8FA86E40BA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24484" y="374681"/>
            <a:ext cx="9343030" cy="726696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>
                <a:solidFill>
                  <a:srgbClr val="0070C0"/>
                </a:solidFill>
              </a:rPr>
              <a:t>GROUP NUMBER</a:t>
            </a:r>
            <a:r>
              <a:rPr lang="en-US" sz="3200" b="1">
                <a:solidFill>
                  <a:srgbClr val="0070C0"/>
                </a:solidFill>
              </a:rPr>
              <a:t>:15</a:t>
            </a:r>
            <a:endParaRPr lang="en-IN" sz="3200" b="1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1BEE83-A330-74AD-884C-C19F63D46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68CDC1-D8FB-8D4B-F57A-06B2C414C5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7" name="Table 10">
            <a:extLst>
              <a:ext uri="{FF2B5EF4-FFF2-40B4-BE49-F238E27FC236}">
                <a16:creationId xmlns:a16="http://schemas.microsoft.com/office/drawing/2014/main" id="{BD94FEB8-52D1-2D12-5891-6583D8FD44B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8045882"/>
              </p:ext>
            </p:extLst>
          </p:nvPr>
        </p:nvGraphicFramePr>
        <p:xfrm>
          <a:off x="838199" y="1416193"/>
          <a:ext cx="10515600" cy="2307967"/>
        </p:xfrm>
        <a:graphic>
          <a:graphicData uri="http://schemas.openxmlformats.org/drawingml/2006/table">
            <a:tbl>
              <a:tblPr firstRow="1" bandRow="1">
                <a:tableStyleId>{5A111915-BE36-4E01-A7E5-04B1672EAD32}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44656383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4175382372"/>
                    </a:ext>
                  </a:extLst>
                </a:gridCol>
              </a:tblGrid>
              <a:tr h="41844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Name of Candidate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Role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17162894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r>
                        <a:rPr lang="en-US" dirty="0"/>
                        <a:t>B. Pemesh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Testing &amp; Quality Assurance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71584153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r>
                        <a:rPr lang="en-US" dirty="0"/>
                        <a:t>K. Srihitha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IN" dirty="0"/>
                        <a:t>Technical Documentation &amp; System Design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1687620"/>
                  </a:ext>
                </a:extLst>
              </a:tr>
              <a:tr h="6298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CH. Srihitha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IN" dirty="0"/>
                        <a:t>Project Development &amp; Implementation</a:t>
                      </a:r>
                      <a:endParaRPr lang="en-US" b="0" dirty="0">
                        <a:solidFill>
                          <a:schemeClr val="tx1">
                            <a:alpha val="31000"/>
                          </a:schemeClr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492412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839367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C21A4-4335-3E69-90C0-3A67A34B2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32EA0-1B53-65AA-CA98-61C6349CC4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ABSTRACT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208674-D9B3-10B6-5D9C-41DD53040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CDEA6-9764-F9AA-B69B-6D32503B0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4A63587-658B-D9DC-0DC8-293DA4D38F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just"/>
            <a:r>
              <a:rPr lang="en-IN" dirty="0"/>
              <a:t>Small businesses often manage customer information, sales, follow-ups, and communication using spreadsheets, notebooks, or separate applications. This makes it difficult to maintain accurate customer records and track business activities.</a:t>
            </a:r>
          </a:p>
          <a:p>
            <a:pPr algn="just"/>
            <a:r>
              <a:rPr lang="en-IN" dirty="0"/>
              <a:t>The proposed </a:t>
            </a:r>
            <a:r>
              <a:rPr lang="en-IN" b="1" dirty="0"/>
              <a:t>CRM for Small Businesses</a:t>
            </a:r>
            <a:r>
              <a:rPr lang="en-IN" dirty="0"/>
              <a:t> provides a centralized platform to manage customer information, leads, sales, interactions, and follow-ups. The system helps businesses organize customer data, improve communication, track sales activities, and build better customer relationships.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64218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1C98CD-164D-D85C-3C57-86DE945BC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B67F0A-F575-131F-4FAD-BB774017A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INTRDOUCTION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BEFBF-E399-A1D2-ED5E-57C497A791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5F5E2-7F9E-F67E-1C1D-E2C463D8F9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4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0241EE-20FA-FE88-F0CE-F84CFE3ED7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just"/>
            <a:r>
              <a:rPr lang="en-IN" dirty="0"/>
              <a:t>Customer relationships are important for the growth of small businesses. </a:t>
            </a:r>
          </a:p>
          <a:p>
            <a:pPr lvl="0" algn="just"/>
            <a:r>
              <a:rPr lang="en-IN" dirty="0"/>
              <a:t>Many small businesses lack dedicated tools to manage customer information. </a:t>
            </a:r>
          </a:p>
          <a:p>
            <a:pPr lvl="0" algn="just"/>
            <a:r>
              <a:rPr lang="en-IN" dirty="0"/>
              <a:t>Customer details and sales records are often maintained manually. </a:t>
            </a:r>
          </a:p>
          <a:p>
            <a:pPr lvl="0" algn="just"/>
            <a:r>
              <a:rPr lang="en-IN" dirty="0"/>
              <a:t>This can result in missed follow-ups, duplicate records, and poor data organization. </a:t>
            </a:r>
          </a:p>
          <a:p>
            <a:pPr lvl="0" algn="just"/>
            <a:r>
              <a:rPr lang="en-IN" dirty="0"/>
              <a:t>A CRM system provides a centralized solution for managing customers and business interactions.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50923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A8186F-83EF-F797-3CF5-E0EB652B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BADAA0-09CB-B341-1C09-04229CE699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EXISTING SYSTEM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8FD481-001E-20A8-DE67-D9A84959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26E39B-0946-7E2E-7624-441AA6BEED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5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6021FD-8573-454E-AAE6-0DB770428D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just"/>
            <a:r>
              <a:rPr lang="en-IN" dirty="0"/>
              <a:t>Customer information is maintained using notebooks or spreadsheets. </a:t>
            </a:r>
          </a:p>
          <a:p>
            <a:pPr lvl="0" algn="just"/>
            <a:r>
              <a:rPr lang="en-IN" dirty="0"/>
              <a:t>Sales and customer interactions are tracked manually. </a:t>
            </a:r>
          </a:p>
          <a:p>
            <a:pPr lvl="0" algn="just"/>
            <a:r>
              <a:rPr lang="en-IN" dirty="0"/>
              <a:t>Follow-ups may be missed due to lack of reminders. </a:t>
            </a:r>
          </a:p>
          <a:p>
            <a:pPr lvl="0" algn="just"/>
            <a:r>
              <a:rPr lang="en-IN" dirty="0"/>
              <a:t>Customer information is scattered across different sources. </a:t>
            </a:r>
          </a:p>
          <a:p>
            <a:pPr lvl="0" algn="just"/>
            <a:r>
              <a:rPr lang="en-IN" dirty="0"/>
              <a:t>Generating reports and </a:t>
            </a:r>
            <a:r>
              <a:rPr lang="en-IN" dirty="0" err="1"/>
              <a:t>analyzing</a:t>
            </a:r>
            <a:r>
              <a:rPr lang="en-IN" dirty="0"/>
              <a:t> customer data is difficult. </a:t>
            </a:r>
          </a:p>
          <a:p>
            <a:pPr lvl="0" algn="just"/>
            <a:r>
              <a:rPr lang="en-IN" dirty="0"/>
              <a:t>Manual management consumes time and increases the possibility of errors.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5086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47D086-C570-6965-FE9B-0BC9CC8DC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739E69-F203-A171-A5A3-B886BB15A4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PROBLEM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7E664-BF08-3F4A-316F-C5F90E27A1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522F1-A86A-A779-FD8E-AD3FAD013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1C0964-43C5-DE58-F74B-F0B3B1F5C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 algn="just">
              <a:buNone/>
            </a:pPr>
            <a:r>
              <a:rPr lang="en-IN" b="1" dirty="0"/>
              <a:t>Problems faced by small businesses:</a:t>
            </a:r>
            <a:endParaRPr lang="en-IN" dirty="0"/>
          </a:p>
          <a:p>
            <a:pPr lvl="0" algn="just"/>
            <a:r>
              <a:rPr lang="en-IN" dirty="0"/>
              <a:t>Difficulty managing customer information. </a:t>
            </a:r>
          </a:p>
          <a:p>
            <a:pPr lvl="0" algn="just"/>
            <a:r>
              <a:rPr lang="en-IN" dirty="0"/>
              <a:t>Lack of centralized customer records. </a:t>
            </a:r>
          </a:p>
          <a:p>
            <a:pPr lvl="0" algn="just"/>
            <a:r>
              <a:rPr lang="en-IN" dirty="0"/>
              <a:t>Missed follow-ups and customer interactions. </a:t>
            </a:r>
          </a:p>
          <a:p>
            <a:pPr lvl="0" algn="just"/>
            <a:r>
              <a:rPr lang="en-IN" dirty="0"/>
              <a:t>Poor tracking of leads and sales. </a:t>
            </a:r>
          </a:p>
          <a:p>
            <a:pPr lvl="0" algn="just"/>
            <a:r>
              <a:rPr lang="en-IN" dirty="0"/>
              <a:t>Difficulty identifying potential customers. </a:t>
            </a:r>
          </a:p>
          <a:p>
            <a:pPr lvl="0" algn="just"/>
            <a:r>
              <a:rPr lang="en-IN" dirty="0"/>
              <a:t>Limited access to business performance information. </a:t>
            </a:r>
          </a:p>
          <a:p>
            <a:pPr lvl="0" algn="just"/>
            <a:r>
              <a:rPr lang="en-IN" dirty="0"/>
              <a:t>Existing CRM solutions may be expensive or unnecessarily complex for small businesses.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92249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1D2BB-24DC-B783-7CA6-93F4D0FDD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DF7F70-D950-780B-9427-7B1B3DAFF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SOLUTION(Contribution)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3B14AD-C0C8-6663-E0C7-1AAF7B63E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DA39EF-2DDE-9002-F716-F77A6113D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7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05A205-0B24-5585-AD3A-14F0657A95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just">
              <a:buNone/>
            </a:pPr>
            <a:r>
              <a:rPr lang="en-IN" dirty="0"/>
              <a:t>The proposed system provides a </a:t>
            </a:r>
            <a:r>
              <a:rPr lang="en-IN" b="1" dirty="0"/>
              <a:t>simple and centralized CRM platform</a:t>
            </a:r>
            <a:r>
              <a:rPr lang="en-IN" dirty="0"/>
              <a:t> designed specifically for small businesses.</a:t>
            </a:r>
          </a:p>
          <a:p>
            <a:pPr marL="0" indent="0" algn="just">
              <a:buNone/>
            </a:pPr>
            <a:r>
              <a:rPr lang="en-IN" b="1" dirty="0"/>
              <a:t>Key contributions:</a:t>
            </a:r>
            <a:endParaRPr lang="en-IN" dirty="0"/>
          </a:p>
          <a:p>
            <a:pPr lvl="0" algn="just"/>
            <a:r>
              <a:rPr lang="en-IN" dirty="0"/>
              <a:t>Centralized customer management. </a:t>
            </a:r>
          </a:p>
          <a:p>
            <a:pPr lvl="0" algn="just"/>
            <a:r>
              <a:rPr lang="en-IN" dirty="0"/>
              <a:t>Lead and sales tracking. </a:t>
            </a:r>
          </a:p>
          <a:p>
            <a:pPr lvl="0" algn="just"/>
            <a:r>
              <a:rPr lang="en-IN" dirty="0"/>
              <a:t>Customer interaction history. </a:t>
            </a:r>
          </a:p>
          <a:p>
            <a:pPr lvl="0" algn="just"/>
            <a:r>
              <a:rPr lang="en-IN" dirty="0"/>
              <a:t>Follow-up reminders. </a:t>
            </a:r>
          </a:p>
          <a:p>
            <a:pPr lvl="0" algn="just"/>
            <a:r>
              <a:rPr lang="en-IN" dirty="0"/>
              <a:t>Easy access to customer information. </a:t>
            </a:r>
          </a:p>
          <a:p>
            <a:pPr lvl="0" algn="just"/>
            <a:r>
              <a:rPr lang="en-IN" dirty="0"/>
              <a:t>Sales and customer activity tracking. </a:t>
            </a:r>
          </a:p>
          <a:p>
            <a:pPr lvl="0" algn="just"/>
            <a:r>
              <a:rPr lang="en-IN" dirty="0"/>
              <a:t>Simple interface suitable for small businesses.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98318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553A8-3533-6CAA-B371-DE8FA0254E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B2015-9851-BB00-C9BE-D0201418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600" b="1" dirty="0">
                <a:solidFill>
                  <a:srgbClr val="0070C0"/>
                </a:solidFill>
              </a:rPr>
              <a:t>Objectives </a:t>
            </a:r>
            <a:endParaRPr lang="en-IN" sz="36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6106D5-4F08-32F7-69CA-DA0983824F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C2EE72-0990-73F7-3A95-5511C5AA0B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440F2FD-B824-35C5-9EAA-5AF510938C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IN" dirty="0"/>
              <a:t>To develop a centralized customer management system. </a:t>
            </a:r>
          </a:p>
          <a:p>
            <a:pPr lvl="0"/>
            <a:r>
              <a:rPr lang="en-IN" dirty="0"/>
              <a:t>To maintain customer information efficiently. </a:t>
            </a:r>
          </a:p>
          <a:p>
            <a:pPr lvl="0"/>
            <a:r>
              <a:rPr lang="en-IN" dirty="0"/>
              <a:t>To manage and track leads. </a:t>
            </a:r>
          </a:p>
          <a:p>
            <a:pPr lvl="0"/>
            <a:r>
              <a:rPr lang="en-IN" dirty="0"/>
              <a:t>To monitor sales activities. </a:t>
            </a:r>
          </a:p>
          <a:p>
            <a:pPr lvl="0"/>
            <a:r>
              <a:rPr lang="en-IN" dirty="0"/>
              <a:t>To record customer interactions. </a:t>
            </a:r>
          </a:p>
          <a:p>
            <a:pPr lvl="0"/>
            <a:r>
              <a:rPr lang="en-IN" dirty="0"/>
              <a:t>To provide follow-up reminders. </a:t>
            </a:r>
          </a:p>
          <a:p>
            <a:pPr lvl="0"/>
            <a:r>
              <a:rPr lang="en-IN" dirty="0"/>
              <a:t>To reduce manual data management. </a:t>
            </a:r>
          </a:p>
          <a:p>
            <a:pPr lvl="0"/>
            <a:r>
              <a:rPr lang="en-IN" dirty="0"/>
              <a:t>To improve customer relationship management.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20797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1E377E-B28A-2AB9-1E52-312C1B6D0B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0CE29-8CD2-1FFC-0567-2D18CBDB16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600" b="1" dirty="0">
                <a:solidFill>
                  <a:srgbClr val="0070C0"/>
                </a:solidFill>
              </a:rPr>
              <a:t>Modules</a:t>
            </a:r>
            <a:endParaRPr lang="en-IN" sz="36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FE5840-59B4-6944-E4BB-E2BB1AD67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B9982D-9C14-E702-5AE1-C9030BFD2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20CCCA-2419-39FC-4F64-F44FEFF22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88366" y="1368425"/>
            <a:ext cx="10515600" cy="498792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sz="1600" b="1" dirty="0"/>
              <a:t>Modules</a:t>
            </a:r>
          </a:p>
          <a:p>
            <a:pPr lvl="0"/>
            <a:r>
              <a:rPr lang="en-IN" sz="1600" b="1" dirty="0"/>
              <a:t>User Authentication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Login &amp; Registration </a:t>
            </a:r>
          </a:p>
          <a:p>
            <a:pPr lvl="0"/>
            <a:r>
              <a:rPr lang="en-IN" sz="1600" b="1" dirty="0"/>
              <a:t>Customer Management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Manage Customer Details </a:t>
            </a:r>
          </a:p>
          <a:p>
            <a:pPr lvl="0"/>
            <a:r>
              <a:rPr lang="en-IN" sz="1600" b="1" dirty="0"/>
              <a:t>Lead Management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Track Potential Customers </a:t>
            </a:r>
          </a:p>
          <a:p>
            <a:pPr lvl="0"/>
            <a:r>
              <a:rPr lang="en-IN" sz="1600" b="1" dirty="0"/>
              <a:t>Sales Management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Track Sales &amp; Orders </a:t>
            </a:r>
          </a:p>
          <a:p>
            <a:pPr lvl="0"/>
            <a:r>
              <a:rPr lang="en-IN" sz="1600" b="1" dirty="0"/>
              <a:t>Interaction Management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Manage Customer Interactions </a:t>
            </a:r>
          </a:p>
          <a:p>
            <a:pPr lvl="0"/>
            <a:r>
              <a:rPr lang="en-IN" sz="1600" b="1" dirty="0"/>
              <a:t>Follow-up Management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Schedule Follow-ups </a:t>
            </a:r>
          </a:p>
          <a:p>
            <a:pPr lvl="0"/>
            <a:r>
              <a:rPr lang="en-IN" sz="1600" b="1" dirty="0"/>
              <a:t>Dashboard &amp; Reports</a:t>
            </a:r>
            <a:r>
              <a:rPr lang="en-IN" sz="1600" dirty="0"/>
              <a:t> </a:t>
            </a:r>
          </a:p>
          <a:p>
            <a:pPr lvl="1"/>
            <a:r>
              <a:rPr lang="en-IN" sz="1600" dirty="0"/>
              <a:t>Sales &amp; Customer Analytics</a:t>
            </a:r>
          </a:p>
        </p:txBody>
      </p:sp>
    </p:spTree>
    <p:extLst>
      <p:ext uri="{BB962C8B-B14F-4D97-AF65-F5344CB8AC3E}">
        <p14:creationId xmlns:p14="http://schemas.microsoft.com/office/powerpoint/2010/main" val="10630771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80D793-788A-0BBE-1A25-0D6B7B4B43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695C-2E9D-0BEB-6476-FC1A6852D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N" sz="3200" b="1" dirty="0">
                <a:solidFill>
                  <a:srgbClr val="0070C0"/>
                </a:solidFill>
              </a:rPr>
              <a:t>SOFTWARE REQUIREMENTS </a:t>
            </a:r>
            <a:endParaRPr lang="en-IN" sz="3200" dirty="0">
              <a:solidFill>
                <a:srgbClr val="0070C0"/>
              </a:solidFill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D729F55-DE57-8408-42F6-4E0FBAB30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623B38-760E-3758-6704-655E2B69F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10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B3C331-E06F-D027-E4C0-6920D37072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Frontend:</a:t>
            </a:r>
            <a:endParaRPr lang="en-IN" dirty="0"/>
          </a:p>
          <a:p>
            <a:pPr lvl="0"/>
            <a:r>
              <a:rPr lang="en-IN" dirty="0"/>
              <a:t>HTML </a:t>
            </a:r>
          </a:p>
          <a:p>
            <a:pPr lvl="0"/>
            <a:r>
              <a:rPr lang="en-IN" dirty="0"/>
              <a:t>CSS </a:t>
            </a:r>
          </a:p>
          <a:p>
            <a:pPr lvl="0"/>
            <a:r>
              <a:rPr lang="en-IN" dirty="0"/>
              <a:t>React &amp; TypeScript </a:t>
            </a:r>
          </a:p>
          <a:p>
            <a:pPr marL="0" indent="0">
              <a:buNone/>
            </a:pPr>
            <a:r>
              <a:rPr lang="en-IN" b="1" dirty="0"/>
              <a:t>Backend:</a:t>
            </a:r>
            <a:endParaRPr lang="en-IN" dirty="0"/>
          </a:p>
          <a:p>
            <a:pPr lvl="0"/>
            <a:r>
              <a:rPr lang="en-IN" dirty="0"/>
              <a:t>Java &amp; Node.js  </a:t>
            </a:r>
          </a:p>
          <a:p>
            <a:pPr marL="0" indent="0">
              <a:buNone/>
            </a:pPr>
            <a:r>
              <a:rPr lang="en-IN" b="1" dirty="0"/>
              <a:t>Database:</a:t>
            </a:r>
            <a:endParaRPr lang="en-IN" dirty="0"/>
          </a:p>
          <a:p>
            <a:pPr lvl="0"/>
            <a:r>
              <a:rPr lang="en-IN" dirty="0"/>
              <a:t>MySQL </a:t>
            </a:r>
          </a:p>
          <a:p>
            <a:pPr marL="0" indent="0">
              <a:buNone/>
            </a:pPr>
            <a:r>
              <a:rPr lang="en-IN" b="1" dirty="0"/>
              <a:t>Development Tools:</a:t>
            </a:r>
            <a:endParaRPr lang="en-IN" dirty="0"/>
          </a:p>
          <a:p>
            <a:pPr lvl="0"/>
            <a:r>
              <a:rPr lang="en-IN" dirty="0"/>
              <a:t>VS Code </a:t>
            </a:r>
          </a:p>
          <a:p>
            <a:pPr lvl="0"/>
            <a:r>
              <a:rPr lang="en-IN" dirty="0"/>
              <a:t>Web Browser </a:t>
            </a:r>
          </a:p>
          <a:p>
            <a:pPr marL="0" indent="0">
              <a:buNone/>
            </a:pPr>
            <a:r>
              <a:rPr lang="en-IN" b="1" dirty="0"/>
              <a:t>Operating System:</a:t>
            </a:r>
            <a:endParaRPr lang="en-IN" dirty="0"/>
          </a:p>
          <a:p>
            <a:pPr lvl="0"/>
            <a:r>
              <a:rPr lang="en-IN" dirty="0"/>
              <a:t>Windows / Linux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9686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45F8C2-111B-5352-5128-7126DF285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B54D73-0C98-1BCC-AF71-A634817E2D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0869" y="283266"/>
            <a:ext cx="6564573" cy="805366"/>
          </a:xfrm>
        </p:spPr>
        <p:txBody>
          <a:bodyPr anchor="ctr">
            <a:noAutofit/>
          </a:bodyPr>
          <a:lstStyle/>
          <a:p>
            <a:r>
              <a:rPr lang="en-US" sz="3600" b="1" dirty="0">
                <a:solidFill>
                  <a:srgbClr val="0070C0"/>
                </a:solidFill>
              </a:rPr>
              <a:t>CONCLUSION AND FUTURE SCOPE</a:t>
            </a:r>
            <a:endParaRPr lang="en-US" sz="4000" b="1" dirty="0">
              <a:solidFill>
                <a:srgbClr val="0070C0"/>
              </a:solidFill>
            </a:endParaRPr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2DA0B0B4-0323-82D4-C481-9A75F01F0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B961B71F-4B40-8942-BB88-E0F5C0B46E10}" type="slidenum">
              <a:rPr lang="en-US" smtClean="0"/>
              <a:pPr>
                <a:spcAft>
                  <a:spcPts val="600"/>
                </a:spcAft>
              </a:pPr>
              <a:t>11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E4576BD-A5F2-BA9F-7E1D-AB128A55505A}"/>
              </a:ext>
            </a:extLst>
          </p:cNvPr>
          <p:cNvSpPr txBox="1"/>
          <p:nvPr/>
        </p:nvSpPr>
        <p:spPr>
          <a:xfrm>
            <a:off x="1283855" y="1307651"/>
            <a:ext cx="8986981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buNone/>
            </a:pPr>
            <a:r>
              <a:rPr lang="en-IN" b="1" dirty="0"/>
              <a:t>Conclusion</a:t>
            </a:r>
            <a:br>
              <a:rPr lang="en-IN" dirty="0"/>
            </a:br>
            <a:r>
              <a:rPr lang="en-IN" dirty="0"/>
              <a:t>The proposed CRM system provides small businesses with a centralized platform for managing customers, leads, sales, interactions, and follow-ups. It reduces manual work, improves organization, and helps businesses maintain better customer relationships.</a:t>
            </a:r>
          </a:p>
          <a:p>
            <a:pPr algn="just">
              <a:buNone/>
            </a:pPr>
            <a:r>
              <a:rPr lang="en-IN" b="1" dirty="0"/>
              <a:t>Future Scope</a:t>
            </a:r>
            <a:endParaRPr lang="en-IN" dirty="0"/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Mobile application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Email and SMS notifications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WhatsApp integration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AI-based customer insights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Sales forecasting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Advanced analytics and dashboards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Cloud-based deployment </a:t>
            </a:r>
          </a:p>
          <a:p>
            <a:pPr marL="342900" lvl="0" indent="-342900" algn="just">
              <a:buFont typeface="Arial" panose="020B0604020202020204" pitchFamily="34" charset="0"/>
              <a:buChar char="•"/>
            </a:pPr>
            <a:r>
              <a:rPr lang="en-IN" dirty="0"/>
              <a:t>Integration with payment and accounting systems</a:t>
            </a:r>
          </a:p>
        </p:txBody>
      </p:sp>
    </p:spTree>
    <p:extLst>
      <p:ext uri="{BB962C8B-B14F-4D97-AF65-F5344CB8AC3E}">
        <p14:creationId xmlns:p14="http://schemas.microsoft.com/office/powerpoint/2010/main" val="1749009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0BAA4F36-AB00-F2C4-B47F-6381355DE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0780"/>
            <a:ext cx="10515600" cy="5436183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endParaRPr lang="en-IN" sz="4400" dirty="0"/>
          </a:p>
          <a:p>
            <a:pPr marL="0" indent="0" algn="ctr">
              <a:buNone/>
            </a:pPr>
            <a:r>
              <a:rPr lang="en-IN" sz="4400" b="1" dirty="0">
                <a:solidFill>
                  <a:srgbClr val="0070C0"/>
                </a:solidFill>
              </a:rPr>
              <a:t>THANK YOU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827BAA-7E22-F268-D9DC-5E17D915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61B71F-4B40-8942-BB88-E0F5C0B46E1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9582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8318</TotalTime>
  <Words>623</Words>
  <Application>Microsoft Office PowerPoint</Application>
  <PresentationFormat>Widescreen</PresentationFormat>
  <Paragraphs>146</Paragraphs>
  <Slides>12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Calibri Light</vt:lpstr>
      <vt:lpstr>Office Theme</vt:lpstr>
      <vt:lpstr>Custom Design</vt:lpstr>
      <vt:lpstr> 1st  REVIEW CRM for Small Businesses </vt:lpstr>
      <vt:lpstr>GROUP NUMBER:15</vt:lpstr>
      <vt:lpstr>ABSTRACT</vt:lpstr>
      <vt:lpstr>INTRDOUCTION</vt:lpstr>
      <vt:lpstr>EXISTING SYSTEM</vt:lpstr>
      <vt:lpstr>PROBLEM</vt:lpstr>
      <vt:lpstr>SOLUTION(Contribution)</vt:lpstr>
      <vt:lpstr>Objectives </vt:lpstr>
      <vt:lpstr>Modules</vt:lpstr>
      <vt:lpstr>SOFTWARE REQUIREMENTS </vt:lpstr>
      <vt:lpstr>CONCLUSION AND FUTURE SCOPE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Dr. SHAHANA BANO</dc:creator>
  <cp:lastModifiedBy>Srihitha Reddy</cp:lastModifiedBy>
  <cp:revision>100</cp:revision>
  <dcterms:created xsi:type="dcterms:W3CDTF">2022-05-20T10:20:31Z</dcterms:created>
  <dcterms:modified xsi:type="dcterms:W3CDTF">2026-10-03T03:25:28Z</dcterms:modified>
</cp:coreProperties>
</file>